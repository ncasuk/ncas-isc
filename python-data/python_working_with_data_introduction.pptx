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Nunito Sans ExtraLight"/>
      <p:regular r:id="rId11"/>
      <p:bold r:id="rId12"/>
      <p:italic r:id="rId13"/>
      <p:boldItalic r:id="rId14"/>
    </p:embeddedFont>
    <p:embeddedFont>
      <p:font typeface="Gill Sans"/>
      <p:regular r:id="rId15"/>
      <p:bold r:id="rId16"/>
    </p:embeddedFont>
    <p:embeddedFont>
      <p:font typeface="Nuni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NunitoSansExtraLight-regular.fntdata"/><Relationship Id="rId10" Type="http://schemas.openxmlformats.org/officeDocument/2006/relationships/slide" Target="slides/slide4.xml"/><Relationship Id="rId13" Type="http://schemas.openxmlformats.org/officeDocument/2006/relationships/font" Target="fonts/NunitoSansExtraLight-italic.fntdata"/><Relationship Id="rId12" Type="http://schemas.openxmlformats.org/officeDocument/2006/relationships/font" Target="fonts/NunitoSansExtraLight-bold.fntdata"/><Relationship Id="rId15" Type="http://schemas.openxmlformats.org/officeDocument/2006/relationships/font" Target="fonts/GillSans-regular.fntdata"/><Relationship Id="rId14" Type="http://schemas.openxmlformats.org/officeDocument/2006/relationships/font" Target="fonts/NunitoSansExtraLight-boldItalic.fntdata"/><Relationship Id="rId17" Type="http://schemas.openxmlformats.org/officeDocument/2006/relationships/font" Target="fonts/NunitoSans-regular.fntdata"/><Relationship Id="rId16" Type="http://schemas.openxmlformats.org/officeDocument/2006/relationships/font" Target="fonts/GillSans-bold.fntdata"/><Relationship Id="rId19" Type="http://schemas.openxmlformats.org/officeDocument/2006/relationships/font" Target="fonts/NunitoSans-italic.fntdata"/><Relationship Id="rId18" Type="http://schemas.openxmlformats.org/officeDocument/2006/relationships/font" Target="fonts/Nunito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fc5f6b4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fc5f6b4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fc5f6b45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fc5f6b45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fc5f6b45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fc5f6b45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fc5f6b45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fc5f6b45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earth)">
  <p:cSld name="TITLE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None/>
              <a:defRPr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 Sans"/>
              <a:buNone/>
              <a:defRPr sz="28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 Sans"/>
              <a:buNone/>
              <a:defRPr sz="28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 Sans"/>
              <a:buNone/>
              <a:defRPr sz="28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 Sans"/>
              <a:buNone/>
              <a:defRPr sz="28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 Sans"/>
              <a:buNone/>
              <a:defRPr sz="28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 Sans"/>
              <a:buNone/>
              <a:defRPr sz="28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 Sans"/>
              <a:buNone/>
              <a:defRPr sz="28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 Sans"/>
              <a:buNone/>
              <a:defRPr sz="28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58" name="Google Shape;58;p15" title="NCAS 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50" y="4342904"/>
            <a:ext cx="2532250" cy="60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141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ocean)">
  <p:cSld name="TITLE_4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Nunito Sans"/>
              <a:buNone/>
              <a:defRPr sz="52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None/>
              <a:defRPr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62" name="Google Shape;62;p16" title="NCAS 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50" y="4342904"/>
            <a:ext cx="2532250" cy="60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141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white)">
  <p:cSld name="TITLE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Nunito Sans"/>
              <a:buNone/>
              <a:defRPr sz="5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Nunito Sans"/>
              <a:buNone/>
              <a:defRPr sz="5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Nunito Sans"/>
              <a:buNone/>
              <a:defRPr sz="5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Nunito Sans"/>
              <a:buNone/>
              <a:defRPr sz="5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Nunito Sans"/>
              <a:buNone/>
              <a:defRPr sz="5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Nunito Sans"/>
              <a:buNone/>
              <a:defRPr sz="5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Nunito Sans"/>
              <a:buNone/>
              <a:defRPr sz="5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Nunito Sans"/>
              <a:buNone/>
              <a:defRPr sz="52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 sz="20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 Sans"/>
              <a:buNone/>
              <a:defRPr sz="2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 Sans"/>
              <a:buNone/>
              <a:defRPr sz="2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 Sans"/>
              <a:buNone/>
              <a:defRPr sz="2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 Sans"/>
              <a:buNone/>
              <a:defRPr sz="2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 Sans"/>
              <a:buNone/>
              <a:defRPr sz="2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 Sans"/>
              <a:buNone/>
              <a:defRPr sz="2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 Sans"/>
              <a:buNone/>
              <a:defRPr sz="2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 Sans"/>
              <a:buNone/>
              <a:defRPr sz="2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66" name="Google Shape;66;p17" title="NCAS colour.png"/>
          <p:cNvPicPr preferRelativeResize="0"/>
          <p:nvPr/>
        </p:nvPicPr>
        <p:blipFill rotWithShape="1">
          <a:blip r:embed="rId3">
            <a:alphaModFix/>
          </a:blip>
          <a:srcRect b="-8596" l="-2267" r="-2247" t="-5571"/>
          <a:stretch/>
        </p:blipFill>
        <p:spPr>
          <a:xfrm>
            <a:off x="174941" y="4296769"/>
            <a:ext cx="2718600" cy="6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41">
          <p15:clr>
            <a:srgbClr val="E46962"/>
          </p15:clr>
        </p15:guide>
        <p15:guide id="2" orient="horz" pos="311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sky + earth)">
  <p:cSld name="SECTION_HEADER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sz="3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sz="3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sz="3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sz="3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sz="3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sz="3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sz="3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unito Sans"/>
              <a:buNone/>
              <a:defRPr sz="3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69" name="Google Shape;69;p18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mint + earth)">
  <p:cSld name="SECTION_HEADER_6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 sz="20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73" name="Google Shape;73;p19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sand + earth)">
  <p:cSld name="SECTION_HEADER_6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 sz="20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" name="Google Shape;77;p20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sky + ocean)">
  <p:cSld name="SECTION_HEADER_6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 sz="20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81" name="Google Shape;81;p21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mint + ocean)">
  <p:cSld name="SECTION_HEADER_6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 sz="20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85" name="Google Shape;85;p22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sand + ocean)">
  <p:cSld name="SECTION_HEADER_6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 sz="20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9" name="Google Shape;89;p23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white + earth)">
  <p:cSld name="SECTION_HEADER_6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4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white + ocean)">
  <p:cSld name="SECTION_HEADER_6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white + sky)">
  <p:cSld name="SECTION_HEADER_6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6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white + mint)">
  <p:cSld name="SECTION_HEADER_6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7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white + sand)">
  <p:cSld name="SECTION_HEADER_6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8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4" name="Google Shape;114;p28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earth)">
  <p:cSld name="SECTION_HEADER_6_1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9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9" name="Google Shape;119;p29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0" name="Google Shape;120;p29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ocean)">
  <p:cSld name="SECTION_HEADER_6_1_1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30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5" name="Google Shape;125;p30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sky)">
  <p:cSld name="SECTION_HEADER_6_1_1_1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1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9" name="Google Shape;129;p31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mint)">
  <p:cSld name="SECTION_HEADER_6_1_1_1_1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32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34" name="Google Shape;134;p32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35" name="Google Shape;135;p32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sand)">
  <p:cSld name="SECTION_HEADER_6_1_1_1_1_1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3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39" name="Google Shape;139;p33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0" name="Google Shape;140;p33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(white)">
  <p:cSld name="SECTION_HEADER_6_1_1_1_1_1_1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3" name="Google Shape;143;p34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44" name="Google Shape;144;p34" title="NCAS black.png"/>
          <p:cNvPicPr preferRelativeResize="0"/>
          <p:nvPr/>
        </p:nvPicPr>
        <p:blipFill rotWithShape="1">
          <a:blip r:embed="rId3">
            <a:alphaModFix/>
          </a:blip>
          <a:srcRect b="0" l="0" r="76441" t="0"/>
          <a:stretch/>
        </p:blipFill>
        <p:spPr>
          <a:xfrm>
            <a:off x="8318200" y="4322537"/>
            <a:ext cx="633349" cy="6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4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wo columns (earth)">
  <p:cSld name="SECTION_HEADER_6_1_1_1_1_1_1_1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8" name="Google Shape;148;p35"/>
          <p:cNvSpPr txBox="1"/>
          <p:nvPr>
            <p:ph idx="1" type="body"/>
          </p:nvPr>
        </p:nvSpPr>
        <p:spPr>
          <a:xfrm>
            <a:off x="31170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9" name="Google Shape;149;p35"/>
          <p:cNvSpPr txBox="1"/>
          <p:nvPr>
            <p:ph idx="2" type="body"/>
          </p:nvPr>
        </p:nvSpPr>
        <p:spPr>
          <a:xfrm>
            <a:off x="4832400" y="101777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50" name="Google Shape;150;p35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5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wo columns (ocean)">
  <p:cSld name="SECTION_HEADER_6_1_1_1_1_1_1_1_1_1_1_1_1_1_1_1_1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54" name="Google Shape;154;p36"/>
          <p:cNvSpPr txBox="1"/>
          <p:nvPr>
            <p:ph idx="1" type="body"/>
          </p:nvPr>
        </p:nvSpPr>
        <p:spPr>
          <a:xfrm>
            <a:off x="31170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55" name="Google Shape;155;p36"/>
          <p:cNvSpPr txBox="1"/>
          <p:nvPr>
            <p:ph idx="2" type="body"/>
          </p:nvPr>
        </p:nvSpPr>
        <p:spPr>
          <a:xfrm>
            <a:off x="4832400" y="101777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56" name="Google Shape;156;p36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6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wo columns (sky)">
  <p:cSld name="SECTION_HEADER_6_1_1_1_1_1_1_1_1_1_1_1_1_1_1_1_1_1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0" name="Google Shape;160;p37"/>
          <p:cNvSpPr txBox="1"/>
          <p:nvPr>
            <p:ph idx="1" type="body"/>
          </p:nvPr>
        </p:nvSpPr>
        <p:spPr>
          <a:xfrm>
            <a:off x="31170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1" name="Google Shape;161;p37"/>
          <p:cNvSpPr txBox="1"/>
          <p:nvPr>
            <p:ph idx="2" type="body"/>
          </p:nvPr>
        </p:nvSpPr>
        <p:spPr>
          <a:xfrm>
            <a:off x="4832400" y="101777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62" name="Google Shape;162;p37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7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wo columns (mint)">
  <p:cSld name="SECTION_HEADER_6_1_1_1_1_1_1_1_1_1_1_1_1_1_1_1_1_1_1_1_1_1_1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31170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67" name="Google Shape;167;p38"/>
          <p:cNvSpPr txBox="1"/>
          <p:nvPr>
            <p:ph idx="2" type="body"/>
          </p:nvPr>
        </p:nvSpPr>
        <p:spPr>
          <a:xfrm>
            <a:off x="4832400" y="101777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68" name="Google Shape;168;p38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8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wo columns (sand)">
  <p:cSld name="SECTION_HEADER_6_1_1_1_1_1_1_1_1_1_1_1_1_1_1_1_1_1_1_1_1_1_1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72" name="Google Shape;172;p39"/>
          <p:cNvSpPr txBox="1"/>
          <p:nvPr>
            <p:ph idx="1" type="body"/>
          </p:nvPr>
        </p:nvSpPr>
        <p:spPr>
          <a:xfrm>
            <a:off x="31170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73" name="Google Shape;173;p39"/>
          <p:cNvSpPr txBox="1"/>
          <p:nvPr>
            <p:ph idx="2" type="body"/>
          </p:nvPr>
        </p:nvSpPr>
        <p:spPr>
          <a:xfrm>
            <a:off x="4832400" y="101777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74" name="Google Shape;174;p39" title="NCAS white.png"/>
          <p:cNvPicPr preferRelativeResize="0"/>
          <p:nvPr/>
        </p:nvPicPr>
        <p:blipFill rotWithShape="1">
          <a:blip r:embed="rId3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9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wo columns (white)">
  <p:cSld name="SECTION_HEADER_6_1_1_1_1_1_1_1_1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 Sans"/>
              <a:buNone/>
              <a:defRPr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78" name="Google Shape;178;p40" title="NCAS black.png"/>
          <p:cNvPicPr preferRelativeResize="0"/>
          <p:nvPr/>
        </p:nvPicPr>
        <p:blipFill rotWithShape="1">
          <a:blip r:embed="rId3">
            <a:alphaModFix/>
          </a:blip>
          <a:srcRect b="0" l="0" r="76441" t="0"/>
          <a:stretch/>
        </p:blipFill>
        <p:spPr>
          <a:xfrm>
            <a:off x="8318200" y="4322537"/>
            <a:ext cx="633349" cy="6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0"/>
          <p:cNvSpPr txBox="1"/>
          <p:nvPr>
            <p:ph idx="1" type="body"/>
          </p:nvPr>
        </p:nvSpPr>
        <p:spPr>
          <a:xfrm>
            <a:off x="4832400" y="101777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80" name="Google Shape;180;p40"/>
          <p:cNvSpPr txBox="1"/>
          <p:nvPr>
            <p:ph idx="2" type="body"/>
          </p:nvPr>
        </p:nvSpPr>
        <p:spPr>
          <a:xfrm>
            <a:off x="31170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81" name="Google Shape;181;p40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(earth + sky)">
  <p:cSld name="SECTION_HEADER_6_1_1_1_1_1_1_1_1_1_1_1_1_1_1_1_1_1_1_1_1_1_1_1_1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/>
        </p:nvSpPr>
        <p:spPr>
          <a:xfrm>
            <a:off x="4571991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1"/>
          <p:cNvSpPr txBox="1"/>
          <p:nvPr>
            <p:ph idx="1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85" name="Google Shape;185;p41"/>
          <p:cNvSpPr/>
          <p:nvPr/>
        </p:nvSpPr>
        <p:spPr>
          <a:xfrm>
            <a:off x="-3459" y="0"/>
            <a:ext cx="4572000" cy="5143500"/>
          </a:xfrm>
          <a:prstGeom prst="rect">
            <a:avLst/>
          </a:prstGeom>
          <a:solidFill>
            <a:srgbClr val="186F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1"/>
          <p:cNvSpPr txBox="1"/>
          <p:nvPr>
            <p:ph idx="2" type="body"/>
          </p:nvPr>
        </p:nvSpPr>
        <p:spPr>
          <a:xfrm>
            <a:off x="36405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87" name="Google Shape;187;p41" title="NCAS white.png"/>
          <p:cNvPicPr preferRelativeResize="0"/>
          <p:nvPr/>
        </p:nvPicPr>
        <p:blipFill rotWithShape="1">
          <a:blip r:embed="rId2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1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(earth + mint)">
  <p:cSld name="SECTION_HEADER_6_1_1_1_1_1_1_1_1_1_1_1_1_1_1_1_1_1_1_1_1_1_1_1_1_1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2"/>
          <p:cNvSpPr/>
          <p:nvPr/>
        </p:nvSpPr>
        <p:spPr>
          <a:xfrm>
            <a:off x="4571991" y="-125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2"/>
          <p:cNvSpPr txBox="1"/>
          <p:nvPr>
            <p:ph idx="1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92" name="Google Shape;192;p42"/>
          <p:cNvSpPr/>
          <p:nvPr/>
        </p:nvSpPr>
        <p:spPr>
          <a:xfrm>
            <a:off x="-3459" y="0"/>
            <a:ext cx="4572000" cy="5143500"/>
          </a:xfrm>
          <a:prstGeom prst="rect">
            <a:avLst/>
          </a:prstGeom>
          <a:solidFill>
            <a:srgbClr val="186F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2"/>
          <p:cNvSpPr txBox="1"/>
          <p:nvPr>
            <p:ph idx="2" type="body"/>
          </p:nvPr>
        </p:nvSpPr>
        <p:spPr>
          <a:xfrm>
            <a:off x="36405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194" name="Google Shape;194;p42" title="NCAS white.png"/>
          <p:cNvPicPr preferRelativeResize="0"/>
          <p:nvPr/>
        </p:nvPicPr>
        <p:blipFill rotWithShape="1">
          <a:blip r:embed="rId2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2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(earth + sand)">
  <p:cSld name="SECTION_HEADER_6_1_1_1_1_1_1_1_1_1_1_1_1_1_1_1_1_1_1_1_1_1_1_1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/>
          <p:nvPr/>
        </p:nvSpPr>
        <p:spPr>
          <a:xfrm>
            <a:off x="4571991" y="-125"/>
            <a:ext cx="4572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99" name="Google Shape;199;p43"/>
          <p:cNvSpPr/>
          <p:nvPr/>
        </p:nvSpPr>
        <p:spPr>
          <a:xfrm>
            <a:off x="-3459" y="0"/>
            <a:ext cx="4572000" cy="5143500"/>
          </a:xfrm>
          <a:prstGeom prst="rect">
            <a:avLst/>
          </a:prstGeom>
          <a:solidFill>
            <a:srgbClr val="186F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3"/>
          <p:cNvSpPr txBox="1"/>
          <p:nvPr>
            <p:ph idx="2" type="body"/>
          </p:nvPr>
        </p:nvSpPr>
        <p:spPr>
          <a:xfrm>
            <a:off x="36405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201" name="Google Shape;201;p43" title="NCAS white.png"/>
          <p:cNvPicPr preferRelativeResize="0"/>
          <p:nvPr/>
        </p:nvPicPr>
        <p:blipFill rotWithShape="1">
          <a:blip r:embed="rId2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3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(ocean + sky)">
  <p:cSld name="SECTION_HEADER_6_1_1_1_1_1_1_1_1_1_1_1_1_1_1_1_1_1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4"/>
          <p:cNvSpPr/>
          <p:nvPr/>
        </p:nvSpPr>
        <p:spPr>
          <a:xfrm>
            <a:off x="4571991" y="-125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4"/>
          <p:cNvSpPr txBox="1"/>
          <p:nvPr>
            <p:ph idx="1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06" name="Google Shape;206;p44"/>
          <p:cNvSpPr/>
          <p:nvPr/>
        </p:nvSpPr>
        <p:spPr>
          <a:xfrm>
            <a:off x="-3459" y="0"/>
            <a:ext cx="4572000" cy="5143500"/>
          </a:xfrm>
          <a:prstGeom prst="rect">
            <a:avLst/>
          </a:prstGeom>
          <a:solidFill>
            <a:srgbClr val="355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4"/>
          <p:cNvSpPr txBox="1"/>
          <p:nvPr>
            <p:ph idx="2" type="body"/>
          </p:nvPr>
        </p:nvSpPr>
        <p:spPr>
          <a:xfrm>
            <a:off x="36405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208" name="Google Shape;208;p44" title="NCAS white.png"/>
          <p:cNvPicPr preferRelativeResize="0"/>
          <p:nvPr/>
        </p:nvPicPr>
        <p:blipFill rotWithShape="1">
          <a:blip r:embed="rId2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4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(ocean + mint)">
  <p:cSld name="SECTION_HEADER_6_1_1_1_1_1_1_1_1_1_1_1_1_1_1_1_1_1_1_1_1_1_1_1_1_1_1_1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5"/>
          <p:cNvSpPr/>
          <p:nvPr/>
        </p:nvSpPr>
        <p:spPr>
          <a:xfrm>
            <a:off x="4571991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5"/>
          <p:cNvSpPr txBox="1"/>
          <p:nvPr>
            <p:ph idx="1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3" name="Google Shape;213;p45"/>
          <p:cNvSpPr/>
          <p:nvPr/>
        </p:nvSpPr>
        <p:spPr>
          <a:xfrm>
            <a:off x="-3459" y="0"/>
            <a:ext cx="4572000" cy="5143500"/>
          </a:xfrm>
          <a:prstGeom prst="rect">
            <a:avLst/>
          </a:prstGeom>
          <a:solidFill>
            <a:srgbClr val="355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5"/>
          <p:cNvSpPr txBox="1"/>
          <p:nvPr>
            <p:ph idx="2" type="body"/>
          </p:nvPr>
        </p:nvSpPr>
        <p:spPr>
          <a:xfrm>
            <a:off x="36405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215" name="Google Shape;215;p45" title="NCAS white.png"/>
          <p:cNvPicPr preferRelativeResize="0"/>
          <p:nvPr/>
        </p:nvPicPr>
        <p:blipFill rotWithShape="1">
          <a:blip r:embed="rId2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5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(ocean + sand)">
  <p:cSld name="SECTION_HEADER_6_1_1_1_1_1_1_1_1_1_1_1_1_1_1_1_1_1_1_1_1_1_1_1_1_1_1_1_1_1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6"/>
          <p:cNvSpPr/>
          <p:nvPr/>
        </p:nvSpPr>
        <p:spPr>
          <a:xfrm>
            <a:off x="4571991" y="-125"/>
            <a:ext cx="4572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6"/>
          <p:cNvSpPr txBox="1"/>
          <p:nvPr>
            <p:ph idx="1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●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○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■"/>
              <a:defRPr sz="1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20" name="Google Shape;220;p46"/>
          <p:cNvSpPr/>
          <p:nvPr/>
        </p:nvSpPr>
        <p:spPr>
          <a:xfrm>
            <a:off x="-3459" y="0"/>
            <a:ext cx="4572000" cy="5143500"/>
          </a:xfrm>
          <a:prstGeom prst="rect">
            <a:avLst/>
          </a:prstGeom>
          <a:solidFill>
            <a:srgbClr val="3554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6"/>
          <p:cNvSpPr txBox="1"/>
          <p:nvPr>
            <p:ph idx="2" type="body"/>
          </p:nvPr>
        </p:nvSpPr>
        <p:spPr>
          <a:xfrm>
            <a:off x="36405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pic>
        <p:nvPicPr>
          <p:cNvPr id="222" name="Google Shape;222;p46" title="NCAS white.png"/>
          <p:cNvPicPr preferRelativeResize="0"/>
          <p:nvPr/>
        </p:nvPicPr>
        <p:blipFill rotWithShape="1">
          <a:blip r:embed="rId2">
            <a:alphaModFix/>
          </a:blip>
          <a:srcRect b="0" l="0" r="76026" t="0"/>
          <a:stretch/>
        </p:blipFill>
        <p:spPr>
          <a:xfrm>
            <a:off x="8300650" y="4299075"/>
            <a:ext cx="650900" cy="6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6"/>
          <p:cNvSpPr txBox="1"/>
          <p:nvPr>
            <p:ph idx="12" type="sldNum"/>
          </p:nvPr>
        </p:nvSpPr>
        <p:spPr>
          <a:xfrm>
            <a:off x="173183" y="4622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5639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al final slide (earth)">
  <p:cSld name="TITLE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7" title="NCAS 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50" y="4342904"/>
            <a:ext cx="2532250" cy="60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14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al final slide (ocean)">
  <p:cSld name="TITLE_4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8" title="NCAS 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50" y="4342904"/>
            <a:ext cx="2532250" cy="60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118">
          <p15:clr>
            <a:srgbClr val="E46962"/>
          </p15:clr>
        </p15:guide>
        <p15:guide id="2" pos="141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al final slide (white)">
  <p:cSld name="TITLE_4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 title="NCAS colour.png"/>
          <p:cNvPicPr preferRelativeResize="0"/>
          <p:nvPr/>
        </p:nvPicPr>
        <p:blipFill rotWithShape="1">
          <a:blip r:embed="rId3">
            <a:alphaModFix/>
          </a:blip>
          <a:srcRect b="-8596" l="-2267" r="-2247" t="-5571"/>
          <a:stretch/>
        </p:blipFill>
        <p:spPr>
          <a:xfrm>
            <a:off x="174963" y="4296750"/>
            <a:ext cx="2718600" cy="6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41">
          <p15:clr>
            <a:srgbClr val="E46962"/>
          </p15:clr>
        </p15:guide>
        <p15:guide id="2" orient="horz" pos="311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None/>
              <a:defRPr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○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■"/>
              <a:defRPr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lang="en-GB" sz="3800">
                <a:latin typeface="Arial"/>
                <a:ea typeface="Arial"/>
                <a:cs typeface="Arial"/>
                <a:sym typeface="Arial"/>
              </a:rPr>
              <a:t>Python Working with Data Introduction</a:t>
            </a:r>
            <a:endParaRPr b="1" sz="3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NCAS ISC Course November 2025</a:t>
            </a:r>
            <a:endParaRPr sz="14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GB" sz="2800">
                <a:latin typeface="Gill Sans"/>
                <a:ea typeface="Gill Sans"/>
                <a:cs typeface="Gill Sans"/>
                <a:sym typeface="Gill Sans"/>
              </a:rPr>
              <a:t>What we are covering</a:t>
            </a:r>
            <a:endParaRPr/>
          </a:p>
        </p:txBody>
      </p:sp>
      <p:sp>
        <p:nvSpPr>
          <p:cNvPr id="241" name="Google Shape;241;p51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b="1" lang="en-GB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High-Level Libraries (main focus):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○"/>
            </a:pPr>
            <a:r>
              <a:rPr b="1"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xarray</a:t>
            </a:r>
            <a:r>
              <a:rPr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Powerful, flexible and widely used in environmental science communities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○"/>
            </a:pPr>
            <a:r>
              <a:rPr b="1"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cf-python</a:t>
            </a:r>
            <a:r>
              <a:rPr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CF-compliant, domain-specific and great for standardized workflows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1" marL="74295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b="1" lang="en-GB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Low-Level Libraries (supporting tools):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○"/>
            </a:pPr>
            <a:r>
              <a:rPr b="1"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r>
              <a:rPr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The foundation of numerical computing in Python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○"/>
            </a:pPr>
            <a:r>
              <a:rPr b="1"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Customizable plotting for scientific visuals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○"/>
            </a:pPr>
            <a:r>
              <a:rPr b="1"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netCDF4</a:t>
            </a:r>
            <a:r>
              <a:rPr lang="en-GB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: Direct access to NetCDF files and metadata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Xarray vs cf-python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2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Both libraries help you work with multidimensional data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They offer similar functionality: slicing, aggregating, plotting, metadata handling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Why we teach both: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Different communities prefer different tools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Best practice often depends on your collaborators and data standards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get to choose what fits your workflow best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Why learn the low-level tools?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3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●"/>
            </a:pPr>
            <a:r>
              <a:rPr lang="en-GB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These libraries power the high-level tools behind the scenes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●"/>
            </a:pPr>
            <a:r>
              <a:rPr lang="en-GB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You’ll rarely use them directly but it’s useful to know about them for: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69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Customising plots beyond default settings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69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Debugging or extending functionality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69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Understanding performance and data formats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9144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●"/>
            </a:pPr>
            <a:r>
              <a:rPr lang="en-GB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Knowing what’s underneath helps you: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69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Find better help online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69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Understand errors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69" lvl="1" marL="914400" rtl="0" algn="l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lang="en-GB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Build more flexible workflows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000000"/>
      </a:lt1>
      <a:dk2>
        <a:srgbClr val="000000"/>
      </a:dk2>
      <a:lt2>
        <a:srgbClr val="000000"/>
      </a:lt2>
      <a:accent1>
        <a:srgbClr val="186F4D"/>
      </a:accent1>
      <a:accent2>
        <a:srgbClr val="35548C"/>
      </a:accent2>
      <a:accent3>
        <a:srgbClr val="EBF3F3"/>
      </a:accent3>
      <a:accent4>
        <a:srgbClr val="C1DBC9"/>
      </a:accent4>
      <a:accent5>
        <a:srgbClr val="EEE9D5"/>
      </a:accent5>
      <a:accent6>
        <a:srgbClr val="FFFFFF"/>
      </a:accent6>
      <a:hlink>
        <a:srgbClr val="FFFFFF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