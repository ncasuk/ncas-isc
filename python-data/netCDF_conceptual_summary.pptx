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Cabin"/>
      <p:regular r:id="rId17"/>
      <p:bold r:id="rId18"/>
      <p:italic r:id="rId19"/>
      <p:boldItalic r:id="rId20"/>
    </p:embeddedFont>
    <p:embeddedFont>
      <p:font typeface="Roboto Mono"/>
      <p:regular r:id="rId21"/>
      <p:bold r:id="rId22"/>
      <p:italic r:id="rId23"/>
      <p:boldItalic r:id="rId24"/>
    </p:embeddedFont>
    <p:embeddedFont>
      <p:font typeface="Gill Sans"/>
      <p:regular r:id="rId25"/>
      <p:bold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bin-boldItalic.fntdata"/><Relationship Id="rId22" Type="http://schemas.openxmlformats.org/officeDocument/2006/relationships/font" Target="fonts/RobotoMono-bold.fntdata"/><Relationship Id="rId21" Type="http://schemas.openxmlformats.org/officeDocument/2006/relationships/font" Target="fonts/RobotoMono-regular.fntdata"/><Relationship Id="rId24" Type="http://schemas.openxmlformats.org/officeDocument/2006/relationships/font" Target="fonts/RobotoMono-boldItalic.fntdata"/><Relationship Id="rId23" Type="http://schemas.openxmlformats.org/officeDocument/2006/relationships/font" Target="fonts/RobotoMono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GillSans-bold.fntdata"/><Relationship Id="rId25" Type="http://schemas.openxmlformats.org/officeDocument/2006/relationships/font" Target="fonts/GillSans-regular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pen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font" Target="fonts/Open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Cabin-regular.fntdata"/><Relationship Id="rId16" Type="http://schemas.openxmlformats.org/officeDocument/2006/relationships/slide" Target="slides/slide12.xml"/><Relationship Id="rId19" Type="http://schemas.openxmlformats.org/officeDocument/2006/relationships/font" Target="fonts/Cabin-italic.fntdata"/><Relationship Id="rId18" Type="http://schemas.openxmlformats.org/officeDocument/2006/relationships/font" Target="fonts/Cabin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c2d4900e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c2d4900e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766205e9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766205e9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7bcb7d49a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7bcb7d49a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766205e9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766205e9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766205e9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766205e9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d96e6ae1d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d96e6ae1d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d96e6ae1d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d96e6ae1d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d96e6ae1d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d96e6ae1d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d96e6ae1de_7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d96e6ae1de_7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d96e6ae1d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d96e6ae1d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d96e6ae1de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d96e6ae1de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7bcb7d49a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7bcb7d49a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NCAS_national_centre_logo.png"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700" y="283600"/>
            <a:ext cx="3291776" cy="78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NCAS_national_centre_logo.png"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27325" y="4529000"/>
            <a:ext cx="1616824" cy="38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6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6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6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6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NCAS_national_centre_logo.png" id="23" name="Google Shape;23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27325" y="4529000"/>
            <a:ext cx="1616824" cy="38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NCAS_national_centre_logo.png" id="29" name="Google Shape;2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27325" y="4529000"/>
            <a:ext cx="1616824" cy="38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NCAS_national_centre_logo.png" id="33" name="Google Shape;3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27325" y="4529000"/>
            <a:ext cx="1616824" cy="38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NCAS_national_centre_logo.png" id="38" name="Google Shape;3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27325" y="4529000"/>
            <a:ext cx="1616824" cy="38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NCAS_national_centre_logo.png" id="42" name="Google Shape;4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27325" y="4529000"/>
            <a:ext cx="1616824" cy="38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6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6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6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6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NCAS_national_centre_logo.png" id="49" name="Google Shape;4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27325" y="4529000"/>
            <a:ext cx="1616824" cy="38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NCAS_national_centre_logo.png" id="53" name="Google Shape;5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27325" y="4529000"/>
            <a:ext cx="1616824" cy="38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16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16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16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16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NCAS_national_centre_logo.png" id="58" name="Google Shape;5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27325" y="4529000"/>
            <a:ext cx="1616824" cy="38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NCAS_national_centre_logo.png" id="61" name="Google Shape;61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27325" y="4529000"/>
            <a:ext cx="1616824" cy="38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bin"/>
              <a:buNone/>
              <a:defRPr sz="28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Open Sans"/>
              <a:buChar char="●"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921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Open Sans"/>
              <a:buChar char="○"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921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Open Sans"/>
              <a:buChar char="■"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921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Open Sans"/>
              <a:buChar char="●"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921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Open Sans"/>
              <a:buChar char="○"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921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Open Sans"/>
              <a:buChar char="■"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921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Open Sans"/>
              <a:buChar char="●"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921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Open Sans"/>
              <a:buChar char="○"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921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000"/>
              <a:buFont typeface="Open Sans"/>
              <a:buChar char="■"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49450"/>
            <a:ext cx="9144002" cy="5143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www.unidata.ucar.edu/software/netcdf/" TargetMode="External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hyperlink" Target="https://indico.ictp.it/event/8847/session/71/contribution/246/material/slides/0.pdf" TargetMode="External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unidata.github.io/netcdf4-python/" TargetMode="External"/><Relationship Id="rId4" Type="http://schemas.openxmlformats.org/officeDocument/2006/relationships/hyperlink" Target="https://github.com/Unidata/netcdf4-python" TargetMode="External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fconventions.org/" TargetMode="External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ncas-cms.github.io/cf-python/cheat_sheet.html" TargetMode="External"/><Relationship Id="rId4" Type="http://schemas.openxmlformats.org/officeDocument/2006/relationships/hyperlink" Target="https://github.com/ncasuk/ncas-isc/blob/main/python-data/cheat_sheets/cfpython_cheatsheet.pdf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ncas-cms.github.io/cf-python/recipes/index.html" TargetMode="Externa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/>
        </p:nvSpPr>
        <p:spPr>
          <a:xfrm>
            <a:off x="266934" y="1613300"/>
            <a:ext cx="8794200" cy="104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>
                <a:latin typeface="Gill Sans"/>
                <a:ea typeface="Gill Sans"/>
                <a:cs typeface="Gill Sans"/>
                <a:sym typeface="Gill Sans"/>
              </a:rPr>
              <a:t>(CF-)NetCDF: conceptual summary</a:t>
            </a:r>
            <a:endParaRPr sz="42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430900" y="3539575"/>
            <a:ext cx="85206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Sadie Bartholomew</a:t>
            </a:r>
            <a:endParaRPr sz="1600">
              <a:solidFill>
                <a:srgbClr val="595959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Computational Scientist / Senior RSE</a:t>
            </a:r>
            <a:endParaRPr sz="1600">
              <a:solidFill>
                <a:srgbClr val="595959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NCAS-CMS &amp; </a:t>
            </a:r>
            <a:r>
              <a:rPr lang="en-GB" sz="16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Reading Met. Dept.</a:t>
            </a:r>
            <a:endParaRPr sz="1600">
              <a:solidFill>
                <a:srgbClr val="595959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NCAS Intro. to Scientific Computing, 2025-11-20</a:t>
            </a:r>
            <a:endParaRPr sz="1600">
              <a:solidFill>
                <a:srgbClr val="595959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391274" y="2600908"/>
            <a:ext cx="85794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Including </a:t>
            </a:r>
            <a:r>
              <a:rPr lang="en-GB" sz="2600">
                <a:solidFill>
                  <a:srgbClr val="595959"/>
                </a:solidFill>
                <a:latin typeface="Roboto Mono"/>
                <a:ea typeface="Roboto Mono"/>
                <a:cs typeface="Roboto Mono"/>
                <a:sym typeface="Roboto Mono"/>
              </a:rPr>
              <a:t>netcdf4python</a:t>
            </a:r>
            <a:r>
              <a:rPr lang="en-GB" sz="2600">
                <a:solidFill>
                  <a:srgbClr val="595959"/>
                </a:solidFill>
                <a:latin typeface="Gill Sans"/>
                <a:ea typeface="Gill Sans"/>
                <a:cs typeface="Gill Sans"/>
                <a:sym typeface="Gill Sans"/>
              </a:rPr>
              <a:t> summary &amp; CF Data Tools recap</a:t>
            </a:r>
            <a:endParaRPr baseline="30000" sz="2600">
              <a:solidFill>
                <a:srgbClr val="595959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69" name="Google Shape;69;p13"/>
          <p:cNvPicPr preferRelativeResize="0"/>
          <p:nvPr/>
        </p:nvPicPr>
        <p:blipFill rotWithShape="1">
          <a:blip r:embed="rId3">
            <a:alphaModFix/>
          </a:blip>
          <a:srcRect b="19954" l="0" r="0" t="20478"/>
          <a:stretch/>
        </p:blipFill>
        <p:spPr>
          <a:xfrm>
            <a:off x="6456875" y="248900"/>
            <a:ext cx="2342225" cy="77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netCDF: a file (data) format and a data model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311700" y="771475"/>
            <a:ext cx="8738100" cy="316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Gill Sans"/>
              <a:buChar char="●"/>
            </a:pPr>
            <a:r>
              <a:rPr b="1" lang="en-GB" sz="1700">
                <a:latin typeface="Gill Sans"/>
                <a:ea typeface="Gill Sans"/>
                <a:cs typeface="Gill Sans"/>
                <a:sym typeface="Gill Sans"/>
              </a:rPr>
              <a:t>Binary file format (</a:t>
            </a:r>
            <a:r>
              <a:rPr b="1" lang="en-GB" sz="1700">
                <a:latin typeface="Roboto Mono"/>
                <a:ea typeface="Roboto Mono"/>
                <a:cs typeface="Roboto Mono"/>
                <a:sym typeface="Roboto Mono"/>
              </a:rPr>
              <a:t>.nc</a:t>
            </a:r>
            <a:r>
              <a:rPr b="1" lang="en-GB" sz="1700">
                <a:latin typeface="Gill Sans"/>
                <a:ea typeface="Gill Sans"/>
                <a:cs typeface="Gill Sans"/>
                <a:sym typeface="Gill Sans"/>
              </a:rPr>
              <a:t> extension)</a:t>
            </a:r>
            <a:r>
              <a:rPr lang="en-GB" sz="1700">
                <a:latin typeface="Gill Sans"/>
                <a:ea typeface="Gill Sans"/>
                <a:cs typeface="Gill Sans"/>
                <a:sym typeface="Gill Sans"/>
              </a:rPr>
              <a:t> adopted currently as very popular standard for exchange &amp; storage of earth science data and data in some other domains</a:t>
            </a:r>
            <a:endParaRPr sz="1700">
              <a:latin typeface="Gill Sans"/>
              <a:ea typeface="Gill Sans"/>
              <a:cs typeface="Gill Sans"/>
              <a:sym typeface="Gill Sans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Gill Sans"/>
              <a:buChar char="○"/>
            </a:pPr>
            <a:r>
              <a:rPr lang="en-GB" sz="1700">
                <a:latin typeface="Gill Sans"/>
                <a:ea typeface="Gill Sans"/>
                <a:cs typeface="Gill Sans"/>
                <a:sym typeface="Gill Sans"/>
              </a:rPr>
              <a:t>developed by UCAR’s Unidata project: UCAR netCDF homepage, including documentation, release &amp; support details, a tutorial, FAQs &amp; more: </a:t>
            </a:r>
            <a:r>
              <a:rPr lang="en-GB" sz="17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3"/>
              </a:rPr>
              <a:t>www.unidata.ucar.edu/software/netcdf/</a:t>
            </a:r>
            <a:endParaRPr sz="1700">
              <a:latin typeface="Gill Sans"/>
              <a:ea typeface="Gill Sans"/>
              <a:cs typeface="Gill Sans"/>
              <a:sym typeface="Gill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Gill Sans"/>
              <a:buChar char="●"/>
            </a:pPr>
            <a:r>
              <a:rPr b="1" lang="en-GB" sz="1700">
                <a:latin typeface="Gill Sans"/>
                <a:ea typeface="Gill Sans"/>
                <a:cs typeface="Gill Sans"/>
                <a:sym typeface="Gill Sans"/>
              </a:rPr>
              <a:t>open(-source), so free to use</a:t>
            </a:r>
            <a:r>
              <a:rPr lang="en-GB" sz="1700">
                <a:latin typeface="Gill Sans"/>
                <a:ea typeface="Gill Sans"/>
                <a:cs typeface="Gill Sans"/>
                <a:sym typeface="Gill Sans"/>
              </a:rPr>
              <a:t> and to install tools to work with it</a:t>
            </a:r>
            <a:endParaRPr sz="1700">
              <a:latin typeface="Gill Sans"/>
              <a:ea typeface="Gill Sans"/>
              <a:cs typeface="Gill Sans"/>
              <a:sym typeface="Gill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Gill Sans"/>
              <a:buChar char="●"/>
            </a:pPr>
            <a:r>
              <a:rPr b="1" lang="en-GB" sz="1700">
                <a:latin typeface="Gill Sans"/>
                <a:ea typeface="Gill Sans"/>
                <a:cs typeface="Gill Sans"/>
                <a:sym typeface="Gill Sans"/>
              </a:rPr>
              <a:t>self-describing</a:t>
            </a:r>
            <a:r>
              <a:rPr lang="en-GB" sz="1700">
                <a:latin typeface="Gill Sans"/>
                <a:ea typeface="Gill Sans"/>
                <a:cs typeface="Gill Sans"/>
                <a:sym typeface="Gill Sans"/>
              </a:rPr>
              <a:t> (metadata categorises each data array) </a:t>
            </a:r>
            <a:r>
              <a:rPr b="1" lang="en-GB" sz="1700">
                <a:latin typeface="Gill Sans"/>
                <a:ea typeface="Gill Sans"/>
                <a:cs typeface="Gill Sans"/>
                <a:sym typeface="Gill Sans"/>
              </a:rPr>
              <a:t>and flexible, but that means it requires interpretation on its own</a:t>
            </a:r>
            <a:r>
              <a:rPr lang="en-GB" sz="1700">
                <a:latin typeface="Gill Sans"/>
                <a:ea typeface="Gill Sans"/>
                <a:cs typeface="Gill Sans"/>
                <a:sym typeface="Gill Sans"/>
              </a:rPr>
              <a:t>, hence a metadata standard to control use of metadata is, in practice, required: step in the CF (Metadata) Conventions</a:t>
            </a:r>
            <a:endParaRPr sz="1700">
              <a:latin typeface="Gill Sans"/>
              <a:ea typeface="Gill Sans"/>
              <a:cs typeface="Gill Sans"/>
              <a:sym typeface="Gill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Gill Sans"/>
              <a:buChar char="●"/>
            </a:pPr>
            <a:r>
              <a:rPr b="1" lang="en-GB" sz="1700">
                <a:latin typeface="Gill Sans"/>
                <a:ea typeface="Gill Sans"/>
                <a:cs typeface="Gill Sans"/>
                <a:sym typeface="Gill Sans"/>
              </a:rPr>
              <a:t>NetCDF files + CF Metadata Conventions = CF-netCDF</a:t>
            </a:r>
            <a:endParaRPr b="1" sz="1700">
              <a:latin typeface="Gill Sans"/>
              <a:ea typeface="Gill Sans"/>
              <a:cs typeface="Gill Sans"/>
              <a:sym typeface="Gill Sans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Gill Sans"/>
              <a:buChar char="○"/>
            </a:pPr>
            <a:r>
              <a:rPr lang="en-GB" sz="1700">
                <a:latin typeface="Gill Sans"/>
                <a:ea typeface="Gill Sans"/>
                <a:cs typeface="Gill Sans"/>
                <a:sym typeface="Gill Sans"/>
              </a:rPr>
              <a:t>flexible self-describing storage for array-based geoscientific data</a:t>
            </a:r>
            <a:endParaRPr sz="1700">
              <a:latin typeface="Gill Sans"/>
              <a:ea typeface="Gill Sans"/>
              <a:cs typeface="Gill Sans"/>
              <a:sym typeface="Gill Sans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Gill Sans"/>
              <a:buChar char="○"/>
            </a:pPr>
            <a:r>
              <a:rPr lang="en-GB" sz="1700">
                <a:latin typeface="Gill Sans"/>
                <a:ea typeface="Gill Sans"/>
                <a:cs typeface="Gill Sans"/>
                <a:sym typeface="Gill Sans"/>
              </a:rPr>
              <a:t>plus standardised metadata to facilitate comparison &amp; processing</a:t>
            </a:r>
            <a:endParaRPr sz="17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76" name="Google Shape;76;p14"/>
          <p:cNvPicPr preferRelativeResize="0"/>
          <p:nvPr/>
        </p:nvPicPr>
        <p:blipFill rotWithShape="1">
          <a:blip r:embed="rId4">
            <a:alphaModFix/>
          </a:blip>
          <a:srcRect b="19954" l="0" r="0" t="20478"/>
          <a:stretch/>
        </p:blipFill>
        <p:spPr>
          <a:xfrm>
            <a:off x="181275" y="4550850"/>
            <a:ext cx="1335306" cy="44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158325" y="73275"/>
            <a:ext cx="8727900" cy="7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netCDF: centers around 3 core components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130147" y="536268"/>
            <a:ext cx="5913300" cy="834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Char char="●"/>
            </a:pPr>
            <a:r>
              <a:rPr lang="en-GB" sz="1800">
                <a:latin typeface="Gill Sans"/>
                <a:ea typeface="Gill Sans"/>
                <a:cs typeface="Gill Sans"/>
                <a:sym typeface="Gill Sans"/>
              </a:rPr>
              <a:t>netCDF dataset contains </a:t>
            </a:r>
            <a:r>
              <a:rPr b="1" lang="en-GB" sz="1800">
                <a:latin typeface="Gill Sans"/>
                <a:ea typeface="Gill Sans"/>
                <a:cs typeface="Gill Sans"/>
                <a:sym typeface="Gill Sans"/>
              </a:rPr>
              <a:t>dimensions, variables, and attributes</a:t>
            </a:r>
            <a:r>
              <a:rPr lang="en-GB" sz="1800">
                <a:latin typeface="Gill Sans"/>
                <a:ea typeface="Gill Sans"/>
                <a:cs typeface="Gill Sans"/>
                <a:sym typeface="Gill Sans"/>
              </a:rPr>
              <a:t>, which all have both a name &amp; an ID</a:t>
            </a:r>
            <a:endParaRPr sz="18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83" name="Google Shape;83;p15"/>
          <p:cNvPicPr preferRelativeResize="0"/>
          <p:nvPr/>
        </p:nvPicPr>
        <p:blipFill rotWithShape="1">
          <a:blip r:embed="rId3">
            <a:alphaModFix/>
          </a:blip>
          <a:srcRect b="19954" l="0" r="0" t="20478"/>
          <a:stretch/>
        </p:blipFill>
        <p:spPr>
          <a:xfrm>
            <a:off x="181275" y="4550850"/>
            <a:ext cx="1335306" cy="44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 title="nc_o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325" y="1300936"/>
            <a:ext cx="4740526" cy="20363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130147" y="3197967"/>
            <a:ext cx="2978400" cy="661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All s</a:t>
            </a: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chematics taken from: </a:t>
            </a: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presentation</a:t>
            </a: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 by Dr. Charlène Gava (see: </a:t>
            </a:r>
            <a:r>
              <a:rPr lang="en-GB" sz="12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5"/>
              </a:rPr>
              <a:t>https://indico.ictp.it/event/8847/session/71/contribution/246/material/slides/0.pdf</a:t>
            </a: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) via (I believe, from </a:t>
            </a: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memory</a:t>
            </a: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!) older UNIDATA netCDF documentation</a:t>
            </a:r>
            <a:endParaRPr sz="12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86" name="Google Shape;86;p15" title="nc_thre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4570" y="1060938"/>
            <a:ext cx="2933049" cy="1260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87" name="Google Shape;87;p15" title="nc_tw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00427" y="2466611"/>
            <a:ext cx="3727200" cy="9465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88" name="Google Shape;88;p15"/>
          <p:cNvSpPr txBox="1"/>
          <p:nvPr>
            <p:ph idx="1" type="body"/>
          </p:nvPr>
        </p:nvSpPr>
        <p:spPr>
          <a:xfrm>
            <a:off x="6642600" y="673650"/>
            <a:ext cx="2110500" cy="661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400" u="sng">
                <a:latin typeface="Gill Sans"/>
                <a:ea typeface="Gill Sans"/>
                <a:cs typeface="Gill Sans"/>
                <a:sym typeface="Gill Sans"/>
              </a:rPr>
              <a:t>Examples could be:</a:t>
            </a:r>
            <a:endParaRPr sz="1400" u="sng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89" name="Google Shape;89;p15" title="nc_four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28825" y="3558525"/>
            <a:ext cx="5798800" cy="14342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 title="nc4-model.png"/>
          <p:cNvPicPr preferRelativeResize="0"/>
          <p:nvPr/>
        </p:nvPicPr>
        <p:blipFill rotWithShape="1">
          <a:blip r:embed="rId3">
            <a:alphaModFix/>
          </a:blip>
          <a:srcRect b="0" l="0" r="6872" t="0"/>
          <a:stretch/>
        </p:blipFill>
        <p:spPr>
          <a:xfrm>
            <a:off x="2914300" y="123575"/>
            <a:ext cx="6094500" cy="49862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95" name="Google Shape;95;p16"/>
          <p:cNvSpPr txBox="1"/>
          <p:nvPr>
            <p:ph type="title"/>
          </p:nvPr>
        </p:nvSpPr>
        <p:spPr>
          <a:xfrm>
            <a:off x="158325" y="73270"/>
            <a:ext cx="3328500" cy="32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netCDF data model &amp; netCDF 3 vs 4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6" name="Google Shape;96;p16"/>
          <p:cNvSpPr txBox="1"/>
          <p:nvPr>
            <p:ph idx="1" type="body"/>
          </p:nvPr>
        </p:nvSpPr>
        <p:spPr>
          <a:xfrm>
            <a:off x="-56300" y="1136204"/>
            <a:ext cx="2970600" cy="2961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netCDF3 dataset contains </a:t>
            </a: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dimensions, variables, and attributes</a:t>
            </a: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, which all have both a name and an ID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Gill Sans"/>
              <a:buChar char="●"/>
            </a:pPr>
            <a:r>
              <a:rPr lang="en-GB" sz="1600">
                <a:solidFill>
                  <a:srgbClr val="6AA84F"/>
                </a:solidFill>
                <a:latin typeface="Gill Sans"/>
                <a:ea typeface="Gill Sans"/>
                <a:cs typeface="Gill Sans"/>
                <a:sym typeface="Gill Sans"/>
              </a:rPr>
              <a:t>netCDF4 also adds groups and user-defined types</a:t>
            </a:r>
            <a:endParaRPr sz="1600">
              <a:solidFill>
                <a:srgbClr val="6AA84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these components can be used together to capture the meaning of data and relations among data fields in an array-oriented dataset 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97" name="Google Shape;97;p16"/>
          <p:cNvPicPr preferRelativeResize="0"/>
          <p:nvPr/>
        </p:nvPicPr>
        <p:blipFill rotWithShape="1">
          <a:blip r:embed="rId4">
            <a:alphaModFix/>
          </a:blip>
          <a:srcRect b="19954" l="0" r="0" t="20478"/>
          <a:stretch/>
        </p:blipFill>
        <p:spPr>
          <a:xfrm>
            <a:off x="181275" y="4550850"/>
            <a:ext cx="1335306" cy="4419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/>
          <p:nvPr/>
        </p:nvSpPr>
        <p:spPr>
          <a:xfrm>
            <a:off x="6227422" y="123575"/>
            <a:ext cx="2822100" cy="3506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AA84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3609650" y="1177100"/>
            <a:ext cx="1728000" cy="765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AA84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5974225" y="3568625"/>
            <a:ext cx="33285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6AA84F"/>
                </a:solidFill>
                <a:latin typeface="Gill Sans"/>
                <a:ea typeface="Gill Sans"/>
                <a:cs typeface="Gill Sans"/>
                <a:sym typeface="Gill Sans"/>
              </a:rPr>
              <a:t>Circled in green: netCDF4 only, not in netCDF3</a:t>
            </a:r>
            <a:endParaRPr baseline="30000" sz="1800">
              <a:solidFill>
                <a:srgbClr val="6AA84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netcdf4python</a:t>
            </a: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: lowest level Python interface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311700" y="771475"/>
            <a:ext cx="8738100" cy="316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If you want to work with netCDF data directly, without a higher-level interface such as xarray or cf-python, you should use </a:t>
            </a:r>
            <a:r>
              <a:rPr lang="en-GB" sz="1600">
                <a:latin typeface="Roboto Mono"/>
                <a:ea typeface="Roboto Mono"/>
                <a:cs typeface="Roboto Mono"/>
                <a:sym typeface="Roboto Mono"/>
              </a:rPr>
              <a:t>netcdf4python</a:t>
            </a: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 (or another Unidata netCDF interface in another language e.g. C, also available). You can work with attributes, variables and dimensions directly, and create new ones etc.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See: </a:t>
            </a:r>
            <a:r>
              <a:rPr lang="en-GB" sz="16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3"/>
              </a:rPr>
              <a:t>https://unidata.github.io/netcdf4-python/</a:t>
            </a: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 (documentation) and/or </a:t>
            </a:r>
            <a:r>
              <a:rPr lang="en-GB" sz="16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4"/>
              </a:rPr>
              <a:t>https://github.com/Unidata/netcdf4-python</a:t>
            </a: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 (repo/codebase)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Example code: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07" name="Google Shape;107;p17"/>
          <p:cNvPicPr preferRelativeResize="0"/>
          <p:nvPr/>
        </p:nvPicPr>
        <p:blipFill rotWithShape="1">
          <a:blip r:embed="rId5">
            <a:alphaModFix/>
          </a:blip>
          <a:srcRect b="19954" l="0" r="0" t="20478"/>
          <a:stretch/>
        </p:blipFill>
        <p:spPr>
          <a:xfrm>
            <a:off x="181275" y="4550850"/>
            <a:ext cx="1335306" cy="44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 txBox="1"/>
          <p:nvPr/>
        </p:nvSpPr>
        <p:spPr>
          <a:xfrm>
            <a:off x="1710850" y="2720000"/>
            <a:ext cx="65343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&gt;&gt;&gt; # Import the library and read in a netCDF datasat</a:t>
            </a:r>
            <a:endParaRPr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&gt;&gt;&gt; </a:t>
            </a:r>
            <a:r>
              <a:rPr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from netCDF4 import Dataset</a:t>
            </a:r>
            <a:endParaRPr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&gt;&gt;&gt; rootgrp = </a:t>
            </a:r>
            <a:r>
              <a:rPr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Dataset</a:t>
            </a:r>
            <a:r>
              <a:rPr lang="en-GB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("test.nc", "w", format="NETCDF4")</a:t>
            </a:r>
            <a:endParaRPr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&gt;&gt;&gt; print(rootgrp.data_model)</a:t>
            </a:r>
            <a:endParaRPr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NETCDF4</a:t>
            </a:r>
            <a:endParaRPr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&gt;&gt;&gt; # Create some new dimensions!</a:t>
            </a:r>
            <a:endParaRPr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&gt;&gt;&gt; level = rootgrp.</a:t>
            </a:r>
            <a:r>
              <a:rPr lang="en-GB">
                <a:solidFill>
                  <a:srgbClr val="351C75"/>
                </a:solidFill>
                <a:latin typeface="Roboto Mono"/>
                <a:ea typeface="Roboto Mono"/>
                <a:cs typeface="Roboto Mono"/>
                <a:sym typeface="Roboto Mono"/>
              </a:rPr>
              <a:t>createDimension</a:t>
            </a:r>
            <a:r>
              <a:rPr lang="en-GB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("level", None)</a:t>
            </a:r>
            <a:endParaRPr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&gt;&gt;&gt; time = rootgrp.</a:t>
            </a:r>
            <a:r>
              <a:rPr lang="en-GB">
                <a:solidFill>
                  <a:srgbClr val="351C75"/>
                </a:solidFill>
                <a:latin typeface="Roboto Mono"/>
                <a:ea typeface="Roboto Mono"/>
                <a:cs typeface="Roboto Mono"/>
                <a:sym typeface="Roboto Mono"/>
              </a:rPr>
              <a:t>createDimension</a:t>
            </a:r>
            <a:r>
              <a:rPr lang="en-GB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("time", None)</a:t>
            </a:r>
            <a:endParaRPr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&gt;&gt;&gt; lat = rootgrp.</a:t>
            </a:r>
            <a:r>
              <a:rPr lang="en-GB">
                <a:solidFill>
                  <a:srgbClr val="351C75"/>
                </a:solidFill>
                <a:latin typeface="Roboto Mono"/>
                <a:ea typeface="Roboto Mono"/>
                <a:cs typeface="Roboto Mono"/>
                <a:sym typeface="Roboto Mono"/>
              </a:rPr>
              <a:t>createDimension</a:t>
            </a:r>
            <a:r>
              <a:rPr lang="en-GB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("lat", 73)</a:t>
            </a:r>
            <a:endParaRPr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219669" y="140225"/>
            <a:ext cx="883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Python tools for netCDF: from general to domain-specific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311700" y="619075"/>
            <a:ext cx="8738100" cy="15453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How the various Python tools you can use (not an exhaustive list!) to work with netCDF compare: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NumPy</a:t>
            </a: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: data arrays and operations on these only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netcdf4-python</a:t>
            </a: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: a tool for working with netCDF without CF Conventions awareness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xarray (and cf_xarray)</a:t>
            </a: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: a general tool which extends numpy (the fundamental package for scientific computing in Python) to notably introduce labelling for dimensions, </a:t>
            </a: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coordinates</a:t>
            </a: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 and attributes. The cf_xrray tool adds some CF Conventions </a:t>
            </a: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awareness</a:t>
            </a: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, but not much!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Iris</a:t>
            </a: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: developed by the Met Office, similar functionality to CF Data Tools but less CF support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CF Data Tools (</a:t>
            </a: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cf-python and cf-plot):  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15" name="Google Shape;115;p18"/>
          <p:cNvGrpSpPr/>
          <p:nvPr/>
        </p:nvGrpSpPr>
        <p:grpSpPr>
          <a:xfrm>
            <a:off x="408225" y="3275825"/>
            <a:ext cx="8481875" cy="1409708"/>
            <a:chOff x="408225" y="2818625"/>
            <a:chExt cx="8481875" cy="1409708"/>
          </a:xfrm>
        </p:grpSpPr>
        <p:cxnSp>
          <p:nvCxnSpPr>
            <p:cNvPr id="116" name="Google Shape;116;p18"/>
            <p:cNvCxnSpPr>
              <a:stCxn id="117" idx="3"/>
              <a:endCxn id="118" idx="1"/>
            </p:cNvCxnSpPr>
            <p:nvPr/>
          </p:nvCxnSpPr>
          <p:spPr>
            <a:xfrm>
              <a:off x="2131725" y="3199925"/>
              <a:ext cx="4897500" cy="0"/>
            </a:xfrm>
            <a:prstGeom prst="straightConnector1">
              <a:avLst/>
            </a:prstGeom>
            <a:noFill/>
            <a:ln cap="flat" cmpd="sng" w="38100">
              <a:solidFill>
                <a:srgbClr val="1155CC"/>
              </a:solidFill>
              <a:prstDash val="solid"/>
              <a:round/>
              <a:headEnd len="med" w="med" type="diamond"/>
              <a:tailEnd len="med" w="med" type="diamond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cxnSp>
        <p:sp>
          <p:nvSpPr>
            <p:cNvPr id="119" name="Google Shape;119;p18"/>
            <p:cNvSpPr txBox="1"/>
            <p:nvPr/>
          </p:nvSpPr>
          <p:spPr>
            <a:xfrm>
              <a:off x="1902150" y="3630433"/>
              <a:ext cx="5708700" cy="29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nump</a:t>
              </a:r>
              <a:r>
                <a:rPr lang="en-GB">
                  <a:latin typeface="Gill Sans"/>
                  <a:ea typeface="Gill Sans"/>
                  <a:cs typeface="Gill Sans"/>
                  <a:sym typeface="Gill Sans"/>
                </a:rPr>
                <a:t>y       </a:t>
              </a:r>
              <a:r>
                <a:rPr lang="en-GB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	                           xarray		   </a:t>
              </a:r>
              <a:r>
                <a:rPr lang="en-GB">
                  <a:latin typeface="Gill Sans"/>
                  <a:ea typeface="Gill Sans"/>
                  <a:cs typeface="Gill Sans"/>
                  <a:sym typeface="Gill Sans"/>
                </a:rPr>
                <a:t>   </a:t>
              </a:r>
              <a:r>
                <a:rPr lang="en-GB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                     cf-python</a:t>
              </a:r>
              <a:endParaRPr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8" name="Google Shape;118;p18"/>
            <p:cNvSpPr txBox="1"/>
            <p:nvPr/>
          </p:nvSpPr>
          <p:spPr>
            <a:xfrm>
              <a:off x="7029200" y="2820425"/>
              <a:ext cx="1860900" cy="7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GB">
                  <a:solidFill>
                    <a:srgbClr val="1155CC"/>
                  </a:solidFill>
                  <a:latin typeface="Gill Sans"/>
                  <a:ea typeface="Gill Sans"/>
                  <a:cs typeface="Gill Sans"/>
                  <a:sym typeface="Gill Sans"/>
                </a:rPr>
                <a:t>Fully domain-specific</a:t>
              </a:r>
              <a:r>
                <a:rPr i="1" lang="en-GB">
                  <a:solidFill>
                    <a:srgbClr val="1155CC"/>
                  </a:solidFill>
                  <a:latin typeface="Gill Sans"/>
                  <a:ea typeface="Gill Sans"/>
                  <a:cs typeface="Gill Sans"/>
                  <a:sym typeface="Gill Sans"/>
                </a:rPr>
                <a:t>: Complete knowledge of CF-netCDF</a:t>
              </a:r>
              <a:endParaRPr i="1">
                <a:solidFill>
                  <a:srgbClr val="1155CC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7" name="Google Shape;117;p18"/>
            <p:cNvSpPr txBox="1"/>
            <p:nvPr/>
          </p:nvSpPr>
          <p:spPr>
            <a:xfrm>
              <a:off x="408225" y="2818625"/>
              <a:ext cx="1723500" cy="7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GB">
                  <a:solidFill>
                    <a:srgbClr val="1155CC"/>
                  </a:solidFill>
                  <a:latin typeface="Gill Sans"/>
                  <a:ea typeface="Gill Sans"/>
                  <a:cs typeface="Gill Sans"/>
                  <a:sym typeface="Gill Sans"/>
                </a:rPr>
                <a:t>Not at all domain-specific</a:t>
              </a:r>
              <a:r>
                <a:rPr i="1" lang="en-GB">
                  <a:solidFill>
                    <a:srgbClr val="1155CC"/>
                  </a:solidFill>
                  <a:latin typeface="Gill Sans"/>
                  <a:ea typeface="Gill Sans"/>
                  <a:cs typeface="Gill Sans"/>
                  <a:sym typeface="Gill Sans"/>
                </a:rPr>
                <a:t>: No knowledge of CF-netCDF</a:t>
              </a:r>
              <a:endParaRPr i="1">
                <a:solidFill>
                  <a:srgbClr val="1155CC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0" name="Google Shape;120;p18"/>
            <p:cNvSpPr txBox="1"/>
            <p:nvPr/>
          </p:nvSpPr>
          <p:spPr>
            <a:xfrm>
              <a:off x="1749750" y="3935233"/>
              <a:ext cx="5708700" cy="29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Gill Sans"/>
                  <a:ea typeface="Gill Sans"/>
                  <a:cs typeface="Gill Sans"/>
                  <a:sym typeface="Gill Sans"/>
                </a:rPr>
                <a:t>               </a:t>
              </a:r>
              <a:r>
                <a:rPr lang="en-GB">
                  <a:latin typeface="Gill Sans"/>
                  <a:ea typeface="Gill Sans"/>
                  <a:cs typeface="Gill Sans"/>
                  <a:sym typeface="Gill Sans"/>
                </a:rPr>
                <a:t>  </a:t>
              </a:r>
              <a:r>
                <a:rPr lang="en-GB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netCDF4-python               	</a:t>
              </a:r>
              <a:r>
                <a:rPr lang="en-GB">
                  <a:latin typeface="Gill Sans"/>
                  <a:ea typeface="Gill Sans"/>
                  <a:cs typeface="Gill Sans"/>
                  <a:sym typeface="Gill Sans"/>
                </a:rPr>
                <a:t>        </a:t>
              </a:r>
              <a:r>
                <a:rPr lang="en-GB">
                  <a:latin typeface="Gill Sans"/>
                  <a:ea typeface="Gill Sans"/>
                  <a:cs typeface="Gill Sans"/>
                  <a:sym typeface="Gill Sans"/>
                </a:rPr>
                <a:t>      </a:t>
              </a:r>
              <a:r>
                <a:rPr lang="en-GB">
                  <a:latin typeface="Gill Sans"/>
                  <a:ea typeface="Gill Sans"/>
                  <a:cs typeface="Gill Sans"/>
                  <a:sym typeface="Gill Sans"/>
                </a:rPr>
                <a:t> </a:t>
              </a:r>
              <a:r>
                <a:rPr lang="en-GB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iri</a:t>
              </a:r>
              <a:r>
                <a:rPr lang="en-GB">
                  <a:latin typeface="Gill Sans"/>
                  <a:ea typeface="Gill Sans"/>
                  <a:cs typeface="Gill Sans"/>
                  <a:sym typeface="Gill Sans"/>
                </a:rPr>
                <a:t>s</a:t>
              </a:r>
              <a:endParaRPr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1" name="Google Shape;121;p18"/>
            <p:cNvSpPr/>
            <p:nvPr/>
          </p:nvSpPr>
          <p:spPr>
            <a:xfrm>
              <a:off x="4408725" y="3352325"/>
              <a:ext cx="163200" cy="3471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2" name="Google Shape;122;p18"/>
            <p:cNvSpPr/>
            <p:nvPr/>
          </p:nvSpPr>
          <p:spPr>
            <a:xfrm>
              <a:off x="6847125" y="3352325"/>
              <a:ext cx="163200" cy="3471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3" name="Google Shape;123;p18"/>
            <p:cNvSpPr/>
            <p:nvPr/>
          </p:nvSpPr>
          <p:spPr>
            <a:xfrm>
              <a:off x="2122725" y="3352325"/>
              <a:ext cx="163200" cy="3471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4" name="Google Shape;124;p18"/>
            <p:cNvSpPr/>
            <p:nvPr/>
          </p:nvSpPr>
          <p:spPr>
            <a:xfrm>
              <a:off x="5800275" y="3352325"/>
              <a:ext cx="163200" cy="6255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5" name="Google Shape;125;p18"/>
            <p:cNvSpPr/>
            <p:nvPr/>
          </p:nvSpPr>
          <p:spPr>
            <a:xfrm>
              <a:off x="3265725" y="3352325"/>
              <a:ext cx="163200" cy="6255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126" name="Google Shape;126;p18"/>
          <p:cNvPicPr preferRelativeResize="0"/>
          <p:nvPr/>
        </p:nvPicPr>
        <p:blipFill rotWithShape="1">
          <a:blip r:embed="rId3">
            <a:alphaModFix/>
          </a:blip>
          <a:srcRect b="19954" l="0" r="0" t="20478"/>
          <a:stretch/>
        </p:blipFill>
        <p:spPr>
          <a:xfrm>
            <a:off x="181275" y="4550850"/>
            <a:ext cx="1335306" cy="44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‘CF’ refers to the CF Conventions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2" name="Google Shape;132;p19"/>
          <p:cNvSpPr txBox="1"/>
          <p:nvPr>
            <p:ph idx="1" type="body"/>
          </p:nvPr>
        </p:nvSpPr>
        <p:spPr>
          <a:xfrm>
            <a:off x="311700" y="771475"/>
            <a:ext cx="8738100" cy="316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‘CF’ is in the name for all of the tools because they center on supporting the </a:t>
            </a: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CF Conventions</a:t>
            </a: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, a metadata standard used throughout the geoscience e.g. Meteorology and atmospheric science communities that makes it easier to share, use and understand our datasets.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The ‘C’ and ‘F’ from </a:t>
            </a: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the CF Conventions stands for </a:t>
            </a: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Climate and Forecast</a:t>
            </a:r>
            <a:endParaRPr b="1" sz="1600"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Some </a:t>
            </a: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terminology</a:t>
            </a: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: </a:t>
            </a: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NetCDF files + CF Metadata Conventions = CF-netCDF</a:t>
            </a:r>
            <a:endParaRPr b="1" sz="1600"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Though cf-python and cf-plot etc. can work with datasets that aren’t (very, even at all) CF-compliant, they are designed to work best for CF-compliant data (not just netCDF but other formats e.g. Met Office PP and fields files)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1600"/>
              </a:spcAft>
              <a:buSzPts val="1600"/>
              <a:buFont typeface="Gill Sans"/>
              <a:buChar char="●"/>
            </a:pP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The idea is that they can use this standardised metadata intelligently so that they can tell what you want to do. Simple example: if you square your data array values, you probably want the units to become the squared version - so cf-python changes them as such automatically for you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33" name="Google Shape;133;p19"/>
          <p:cNvPicPr preferRelativeResize="0"/>
          <p:nvPr/>
        </p:nvPicPr>
        <p:blipFill rotWithShape="1">
          <a:blip r:embed="rId3">
            <a:alphaModFix/>
          </a:blip>
          <a:srcRect b="19954" l="0" r="0" t="20478"/>
          <a:stretch/>
        </p:blipFill>
        <p:spPr>
          <a:xfrm>
            <a:off x="181275" y="4550850"/>
            <a:ext cx="1335306" cy="44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The CF Conventions: a community metadata standard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9" name="Google Shape;139;p20"/>
          <p:cNvSpPr txBox="1"/>
          <p:nvPr>
            <p:ph idx="1" type="body"/>
          </p:nvPr>
        </p:nvSpPr>
        <p:spPr>
          <a:xfrm>
            <a:off x="5105775" y="619075"/>
            <a:ext cx="3960900" cy="316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The CF Conventions provide a standardised way to describe and encode multi-dimensional geospatial data, which is crucial for sharing, comparing, and analysing data across different platforms, models, and research groups.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netCDF datasets are flexibly self-describing so, without a standard, concepts such as variable names and </a:t>
            </a: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geometry encoding </a:t>
            </a: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would need interpretation as to precise meaning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See </a:t>
            </a:r>
            <a:r>
              <a:rPr lang="en-GB" sz="1600" u="sng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https://cfconventions.org/</a:t>
            </a: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 for e.g. the canonical latest document and list of standard names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100" y="745750"/>
            <a:ext cx="4933851" cy="44739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1640000" dist="381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The CF Conventions: a community metadata standard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6" name="Google Shape;146;p21"/>
          <p:cNvSpPr txBox="1"/>
          <p:nvPr>
            <p:ph idx="1" type="body"/>
          </p:nvPr>
        </p:nvSpPr>
        <p:spPr>
          <a:xfrm>
            <a:off x="5105775" y="542875"/>
            <a:ext cx="3960900" cy="316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A key case of how the CF Conventions help us all to work together (and alone) is the </a:t>
            </a: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standard names</a:t>
            </a: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.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Example: if you created or edited data describing sea surface height, there is ambiguity in what that exactly means - e.g. is it a change, amplitude or correction, and what constitutes the starting point for ‘height’, what effect is it encoding, etc.? 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i="1" lang="en-GB" sz="1600">
                <a:latin typeface="Gill Sans"/>
                <a:ea typeface="Gill Sans"/>
                <a:cs typeface="Gill Sans"/>
                <a:sym typeface="Gill Sans"/>
              </a:rPr>
              <a:t>Note t</a:t>
            </a:r>
            <a:r>
              <a:rPr i="1" lang="en-GB" sz="1600">
                <a:latin typeface="Gill Sans"/>
                <a:ea typeface="Gill Sans"/>
                <a:cs typeface="Gill Sans"/>
                <a:sym typeface="Gill Sans"/>
              </a:rPr>
              <a:t>he CF Conventions are community-driven</a:t>
            </a: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 and anyone can request changes or updates e.g. new standard names - please contribute/get involved if useful!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47" name="Google Shape;147;p21"/>
          <p:cNvPicPr preferRelativeResize="0"/>
          <p:nvPr/>
        </p:nvPicPr>
        <p:blipFill rotWithShape="1">
          <a:blip r:embed="rId3">
            <a:alphaModFix/>
          </a:blip>
          <a:srcRect b="514" l="0" r="0" t="514"/>
          <a:stretch/>
        </p:blipFill>
        <p:spPr>
          <a:xfrm>
            <a:off x="273100" y="745750"/>
            <a:ext cx="4933850" cy="44739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1640000" dist="381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NCAS CF Data Tools: aimed at netCDF &amp; MO data users  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311700" y="847675"/>
            <a:ext cx="8738100" cy="316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Ultimately, cf-python and cf-plot (and friends) are </a:t>
            </a: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targeted/designed for use by anyone who wants to work with data in the format of netCDF or its </a:t>
            </a: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human</a:t>
            </a: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-readable CDL form, or Met Office file formats i.e. PP files &amp; fields/UM files, however CF Compliant they may be.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Given the focus on the CF Conventions, they are </a:t>
            </a: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especially</a:t>
            </a: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 aimed at those using datasets related to Climate and Forecasting data (model, satellite, observational, etc.) for atmosphere, surface &amp; ocean, etc. Notable clients: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researchers (at any level, including students)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Research Software Engineers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data center workers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data producers/managers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Char char="●"/>
            </a:pP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and other technical/research professionals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1400" y="2552175"/>
            <a:ext cx="2169075" cy="216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6301" y="2674501"/>
            <a:ext cx="1684000" cy="154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2"/>
          <p:cNvPicPr preferRelativeResize="0"/>
          <p:nvPr/>
        </p:nvPicPr>
        <p:blipFill rotWithShape="1">
          <a:blip r:embed="rId5">
            <a:alphaModFix/>
          </a:blip>
          <a:srcRect b="19954" l="0" r="0" t="20478"/>
          <a:stretch/>
        </p:blipFill>
        <p:spPr>
          <a:xfrm>
            <a:off x="181275" y="4550850"/>
            <a:ext cx="1335306" cy="44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idx="1" type="body"/>
          </p:nvPr>
        </p:nvSpPr>
        <p:spPr>
          <a:xfrm>
            <a:off x="224975" y="695275"/>
            <a:ext cx="8837700" cy="316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In the CF Data Tools components of the course, we looked at 6 sections, each with a teaching and a practical/exercise Notebook, covering the following topics, working with example netCDF (and PP) data:</a:t>
            </a:r>
            <a:endParaRPr sz="1400"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Font typeface="Gill Sans"/>
              <a:buAutoNum type="arabicPeriod"/>
            </a:pP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Reading and inspecting datasets</a:t>
            </a:r>
            <a:endParaRPr b="1" sz="1600"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AutoNum type="arabicPeriod"/>
            </a:pP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Writing and editing datasets</a:t>
            </a:r>
            <a:endParaRPr b="1" sz="1600"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AutoNum type="arabicPeriod"/>
            </a:pP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Reducing down datasets by subspacing and collapsing</a:t>
            </a:r>
            <a:endParaRPr b="1" sz="1600"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AutoNum type="arabicPeriod"/>
            </a:pP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Visualising datasets</a:t>
            </a:r>
            <a:endParaRPr b="1" sz="1600"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AutoNum type="arabicPeriod"/>
            </a:pP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Example data analysis of datasets</a:t>
            </a:r>
            <a:endParaRPr b="1" sz="1600">
              <a:latin typeface="Gill Sans"/>
              <a:ea typeface="Gill Sans"/>
              <a:cs typeface="Gill Sans"/>
              <a:sym typeface="Gill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Gill Sans"/>
              <a:buAutoNum type="arabicPeriod"/>
            </a:pP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Regridding (gridded) datasets</a:t>
            </a:r>
            <a:endParaRPr b="1" sz="16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There is also a cheat sheet which you may find useful: </a:t>
            </a:r>
            <a:r>
              <a:rPr lang="en-GB" sz="16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3"/>
              </a:rPr>
              <a:t>https://ncas-cms.github.io/cf-python/cheat_sheet.html</a:t>
            </a: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 or in the course repo at </a:t>
            </a:r>
            <a:r>
              <a:rPr lang="en-GB" sz="16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4"/>
              </a:rPr>
              <a:t>https://github.com/ncasuk/ncas-isc/blob/main/python-data/cheat_sheets/cfpython_cheatsheet.pdf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2" name="Google Shape;162;p23"/>
          <p:cNvSpPr txBox="1"/>
          <p:nvPr>
            <p:ph type="title"/>
          </p:nvPr>
        </p:nvSpPr>
        <p:spPr>
          <a:xfrm>
            <a:off x="3879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CF Data Tools (</a:t>
            </a: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cf-python &amp; cf-plot): what we covered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>
            <p:ph idx="1" type="body"/>
          </p:nvPr>
        </p:nvSpPr>
        <p:spPr>
          <a:xfrm>
            <a:off x="6102675" y="695275"/>
            <a:ext cx="2959800" cy="316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ill Sans"/>
                <a:ea typeface="Gill Sans"/>
                <a:cs typeface="Gill Sans"/>
                <a:sym typeface="Gill Sans"/>
              </a:rPr>
              <a:t>In the cf-python documentation, we have a page listing created code recipes which demonstrate some possible applications of cf-python and cf-plot, see: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6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3"/>
              </a:rPr>
              <a:t>https://ncas-cms.github.io/cf-python/recipes/index.html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8" name="Google Shape;168;p24"/>
          <p:cNvSpPr txBox="1"/>
          <p:nvPr>
            <p:ph type="title"/>
          </p:nvPr>
        </p:nvSpPr>
        <p:spPr>
          <a:xfrm>
            <a:off x="3879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cf-python &amp; cf-plot: ‘recipes’ illustrating capability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69" name="Google Shape;169;p24"/>
          <p:cNvPicPr preferRelativeResize="0"/>
          <p:nvPr/>
        </p:nvPicPr>
        <p:blipFill rotWithShape="1">
          <a:blip r:embed="rId4">
            <a:alphaModFix/>
          </a:blip>
          <a:srcRect b="2723" l="0" r="0" t="0"/>
          <a:stretch/>
        </p:blipFill>
        <p:spPr>
          <a:xfrm>
            <a:off x="409675" y="765625"/>
            <a:ext cx="5616800" cy="44087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1640000" dist="38100">
              <a:srgbClr val="000000">
                <a:alpha val="49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CAS 2018 Google Slides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86F4D"/>
      </a:accent1>
      <a:accent2>
        <a:srgbClr val="35548C"/>
      </a:accent2>
      <a:accent3>
        <a:srgbClr val="EBF3F3"/>
      </a:accent3>
      <a:accent4>
        <a:srgbClr val="C1DBC9"/>
      </a:accent4>
      <a:accent5>
        <a:srgbClr val="EEE9D5"/>
      </a:accent5>
      <a:accent6>
        <a:srgbClr val="595959"/>
      </a:accent6>
      <a:hlink>
        <a:srgbClr val="186F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